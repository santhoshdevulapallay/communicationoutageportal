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88" r:id="rId3"/>
    <p:sldId id="289" r:id="rId4"/>
    <p:sldId id="290" r:id="rId5"/>
    <p:sldId id="291" r:id="rId6"/>
    <p:sldId id="293" r:id="rId7"/>
    <p:sldId id="294" r:id="rId8"/>
    <p:sldId id="295" r:id="rId9"/>
    <p:sldId id="296" r:id="rId10"/>
    <p:sldId id="278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 SemiBold" panose="020B0604020202020204" charset="0"/>
      <p:regular r:id="rId17"/>
      <p:bold r:id="rId18"/>
      <p:italic r:id="rId19"/>
      <p:boldItalic r:id="rId20"/>
    </p:embeddedFont>
    <p:embeddedFont>
      <p:font typeface="Barlow" panose="020B0604020202020204" charset="0"/>
      <p:regular r:id="rId21"/>
      <p:bold r:id="rId22"/>
      <p:italic r:id="rId23"/>
      <p:boldItalic r:id="rId24"/>
    </p:embeddedFont>
    <p:embeddedFont>
      <p:font typeface="Barlow Ligh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C16AAC-1297-4B21-BCD8-9D25133D234F}">
  <a:tblStyle styleId="{75C16AAC-1297-4B21-BCD8-9D25133D23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0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45412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105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261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47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63;p32"/>
          <p:cNvGrpSpPr/>
          <p:nvPr/>
        </p:nvGrpSpPr>
        <p:grpSpPr>
          <a:xfrm>
            <a:off x="806435" y="260252"/>
            <a:ext cx="8225023" cy="4614203"/>
            <a:chOff x="1177450" y="241631"/>
            <a:chExt cx="6173152" cy="3616776"/>
          </a:xfrm>
        </p:grpSpPr>
        <p:sp>
          <p:nvSpPr>
            <p:cNvPr id="350" name="Google Shape;364;p32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65;p32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128588" dist="47625" dir="5400000" algn="bl" rotWithShape="0">
                <a:srgbClr val="091029">
                  <a:alpha val="7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66;p32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67;p32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82" y="113002"/>
            <a:ext cx="396760" cy="4376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258" y="521134"/>
            <a:ext cx="6428935" cy="3875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>
            <a:spLocks noGrp="1"/>
          </p:cNvSpPr>
          <p:nvPr>
            <p:ph type="title"/>
          </p:nvPr>
        </p:nvSpPr>
        <p:spPr>
          <a:xfrm>
            <a:off x="319696" y="681989"/>
            <a:ext cx="5029200" cy="49443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 smtClean="0"/>
              <a:t>Roles</a:t>
            </a:r>
            <a:endParaRPr sz="4000" dirty="0"/>
          </a:p>
        </p:txBody>
      </p:sp>
      <p:sp>
        <p:nvSpPr>
          <p:cNvPr id="345" name="Google Shape;345;p13"/>
          <p:cNvSpPr txBox="1">
            <a:spLocks noGrp="1"/>
          </p:cNvSpPr>
          <p:nvPr>
            <p:ph type="body" idx="1"/>
          </p:nvPr>
        </p:nvSpPr>
        <p:spPr>
          <a:xfrm>
            <a:off x="741264" y="1336959"/>
            <a:ext cx="4027960" cy="353409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Font typeface="+mj-lt"/>
              <a:buAutoNum type="arabicPeriod"/>
            </a:pPr>
            <a:r>
              <a:rPr lang="en-US" sz="2800" dirty="0" smtClean="0"/>
              <a:t>Admin Role (SRPC)</a:t>
            </a:r>
            <a:endParaRPr lang="en-IN" sz="2800" dirty="0" smtClean="0"/>
          </a:p>
          <a:p>
            <a:pPr lvl="0">
              <a:buFont typeface="+mj-lt"/>
              <a:buAutoNum type="arabicPeriod"/>
            </a:pPr>
            <a:r>
              <a:rPr lang="en-US" sz="2800" dirty="0" smtClean="0"/>
              <a:t>Supervisor Role (SRLDC)</a:t>
            </a:r>
            <a:endParaRPr lang="en-IN" sz="2800" dirty="0" smtClean="0"/>
          </a:p>
          <a:p>
            <a:pPr lvl="0">
              <a:buFont typeface="+mj-lt"/>
              <a:buAutoNum type="arabicPeriod"/>
            </a:pPr>
            <a:r>
              <a:rPr lang="en-US" sz="2800" dirty="0" smtClean="0"/>
              <a:t>User Role</a:t>
            </a:r>
            <a:endParaRPr lang="en-IN" sz="2800" dirty="0"/>
          </a:p>
          <a:p>
            <a:pPr lvl="0">
              <a:buFont typeface="+mj-lt"/>
              <a:buAutoNum type="arabicPeriod"/>
            </a:pPr>
            <a:r>
              <a:rPr lang="en-US" sz="2800" dirty="0" smtClean="0"/>
              <a:t>Operator Role</a:t>
            </a:r>
            <a:endParaRPr lang="en-IN" sz="2800" dirty="0"/>
          </a:p>
        </p:txBody>
      </p:sp>
      <p:sp>
        <p:nvSpPr>
          <p:cNvPr id="347" name="Google Shape;347;p1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349" y="151254"/>
            <a:ext cx="2598657" cy="259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3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095129" cy="1082700"/>
          </a:xfrm>
        </p:spPr>
        <p:txBody>
          <a:bodyPr/>
          <a:lstStyle/>
          <a:p>
            <a:r>
              <a:rPr lang="en-IN" sz="3600" dirty="0" smtClean="0"/>
              <a:t>Flow of Website (Planned)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 smtClean="0"/>
              <a:t>SRPC creates the COMSR Meeting and the same meeting will be sent to all</a:t>
            </a:r>
          </a:p>
          <a:p>
            <a:r>
              <a:rPr lang="en-IN" sz="2000" dirty="0" smtClean="0"/>
              <a:t>User can apply Planned outages for the month by furnishing various details during Meeting Request Period and the same applied outage will be sent through mail to SRLC and SRPC.</a:t>
            </a:r>
          </a:p>
          <a:p>
            <a:r>
              <a:rPr lang="en-IN" sz="2000" dirty="0" smtClean="0"/>
              <a:t>User can edit his applied outages till end of Closing Date of Requests</a:t>
            </a:r>
          </a:p>
          <a:p>
            <a:r>
              <a:rPr lang="en-IN" sz="2000" dirty="0" smtClean="0"/>
              <a:t>SRLDC can provide comments for Planned Outages.</a:t>
            </a:r>
          </a:p>
          <a:p>
            <a:r>
              <a:rPr lang="en-IN" sz="2000" dirty="0" smtClean="0"/>
              <a:t>On meeting Date SRPC can Approve or Reject the applied Outages</a:t>
            </a:r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6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3600" dirty="0"/>
              <a:t>Flow of </a:t>
            </a:r>
            <a:r>
              <a:rPr lang="en-IN" sz="3600" dirty="0" smtClean="0"/>
              <a:t>Website cont.…(Planned)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 smtClean="0"/>
              <a:t>SRPC can change decision of Approved Requests till D-1</a:t>
            </a:r>
          </a:p>
          <a:p>
            <a:r>
              <a:rPr lang="en-IN" sz="2000" dirty="0" smtClean="0"/>
              <a:t>User need to Intimate about availing outages before D-3 through the portal</a:t>
            </a:r>
          </a:p>
          <a:p>
            <a:r>
              <a:rPr lang="en-IN" sz="2000" dirty="0" smtClean="0"/>
              <a:t>On </a:t>
            </a:r>
            <a:r>
              <a:rPr lang="en-IN" sz="2000" dirty="0" err="1" smtClean="0"/>
              <a:t>Dth</a:t>
            </a:r>
            <a:r>
              <a:rPr lang="en-IN" sz="2000" dirty="0" smtClean="0"/>
              <a:t> Day User need to take code from Operator for Availing Outages.</a:t>
            </a:r>
          </a:p>
          <a:p>
            <a:pPr marL="114300" indent="0">
              <a:buNone/>
            </a:pPr>
            <a:endParaRPr lang="en-IN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1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2800" dirty="0"/>
              <a:t>Flow of </a:t>
            </a:r>
            <a:r>
              <a:rPr lang="en-IN" sz="2800" dirty="0" smtClean="0"/>
              <a:t>Website cont.…(Emergency &amp; Forced)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/>
              <a:t>User can apply </a:t>
            </a:r>
            <a:r>
              <a:rPr lang="en-IN" sz="2000" dirty="0" smtClean="0"/>
              <a:t>Emergency </a:t>
            </a:r>
            <a:r>
              <a:rPr lang="en-IN" sz="2000" dirty="0"/>
              <a:t>outages </a:t>
            </a:r>
            <a:r>
              <a:rPr lang="en-IN" sz="2000" dirty="0" smtClean="0"/>
              <a:t>for D+1 day onwards. The same applied Emergency Outage will be sent through Mail.</a:t>
            </a:r>
          </a:p>
          <a:p>
            <a:r>
              <a:rPr lang="en-IN" sz="2000" dirty="0" smtClean="0"/>
              <a:t>User can report Forced outages for previous Month till 12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of the current Month. </a:t>
            </a:r>
            <a:r>
              <a:rPr lang="en-IN" sz="2000" dirty="0"/>
              <a:t>The same </a:t>
            </a:r>
            <a:r>
              <a:rPr lang="en-IN" sz="2000" dirty="0" smtClean="0"/>
              <a:t>reported Forced </a:t>
            </a:r>
            <a:r>
              <a:rPr lang="en-IN" sz="2000" dirty="0"/>
              <a:t>Outage will be sent through Mail</a:t>
            </a:r>
            <a:r>
              <a:rPr lang="en-IN" sz="2000" dirty="0" smtClean="0"/>
              <a:t>.</a:t>
            </a:r>
          </a:p>
          <a:p>
            <a:pPr marL="114300" indent="0">
              <a:buNone/>
            </a:pPr>
            <a:endParaRPr lang="en-IN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7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2800" dirty="0" smtClean="0"/>
              <a:t>Outage Entry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 smtClean="0"/>
              <a:t>For the Approved Planned Outages and Emergency Outages User need to submit the outage Start and End Date before 12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of the Month for the previous Month</a:t>
            </a:r>
          </a:p>
          <a:p>
            <a:r>
              <a:rPr lang="en-IN" sz="2000" dirty="0" smtClean="0"/>
              <a:t>In case of not availing the outage user need to Mark it as Not availed</a:t>
            </a:r>
          </a:p>
          <a:p>
            <a:r>
              <a:rPr lang="en-IN" sz="2000" dirty="0" smtClean="0"/>
              <a:t>On 12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whose outage entry for previous month is not made. Outage timings will be assumed as Approved Timings.</a:t>
            </a:r>
          </a:p>
          <a:p>
            <a:pPr marL="114300" indent="0">
              <a:buNone/>
            </a:pPr>
            <a:r>
              <a:rPr lang="en-IN" sz="2000" dirty="0" smtClean="0"/>
              <a:t>(On 10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remainder mail will be sent to submit the Outage Entry feature yet to be provided)</a:t>
            </a:r>
          </a:p>
          <a:p>
            <a:pPr marL="114300" indent="0">
              <a:buNone/>
            </a:pPr>
            <a:endParaRPr lang="en-IN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2800" dirty="0" smtClean="0"/>
              <a:t>Reports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 smtClean="0"/>
              <a:t>COA1 ( Communication Outage Approval Links)</a:t>
            </a:r>
          </a:p>
          <a:p>
            <a:r>
              <a:rPr lang="en-IN" sz="2000" dirty="0" smtClean="0"/>
              <a:t>COA2 </a:t>
            </a:r>
            <a:r>
              <a:rPr lang="en-IN" sz="2000" dirty="0"/>
              <a:t>( Communication Outage Approval </a:t>
            </a:r>
            <a:r>
              <a:rPr lang="en-IN" sz="2000" dirty="0" smtClean="0"/>
              <a:t>Equipment's)</a:t>
            </a:r>
          </a:p>
          <a:p>
            <a:r>
              <a:rPr lang="en-IN" sz="2000" dirty="0" smtClean="0"/>
              <a:t>COD1 </a:t>
            </a:r>
            <a:r>
              <a:rPr lang="en-IN" sz="2000" dirty="0"/>
              <a:t>( Communication Outage </a:t>
            </a:r>
            <a:r>
              <a:rPr lang="en-IN" sz="2000" dirty="0" smtClean="0"/>
              <a:t>Deviation - </a:t>
            </a:r>
            <a:r>
              <a:rPr lang="en-IN" sz="2000" dirty="0"/>
              <a:t>Links)</a:t>
            </a:r>
          </a:p>
          <a:p>
            <a:r>
              <a:rPr lang="en-IN" sz="2000" dirty="0" smtClean="0"/>
              <a:t>COD2 </a:t>
            </a:r>
            <a:r>
              <a:rPr lang="en-IN" sz="2000" dirty="0"/>
              <a:t>( Communication Outage </a:t>
            </a:r>
            <a:r>
              <a:rPr lang="en-IN" sz="2000" dirty="0" smtClean="0"/>
              <a:t>Deviation Equipment's)</a:t>
            </a:r>
          </a:p>
          <a:p>
            <a:r>
              <a:rPr lang="en-IN" sz="2000" dirty="0" smtClean="0"/>
              <a:t>COD3 </a:t>
            </a:r>
            <a:r>
              <a:rPr lang="en-IN" sz="2000" dirty="0"/>
              <a:t>( Communication Outage </a:t>
            </a:r>
            <a:r>
              <a:rPr lang="en-IN" sz="2000" dirty="0" smtClean="0"/>
              <a:t>Rolling 12 Months Deviation </a:t>
            </a:r>
            <a:r>
              <a:rPr lang="en-IN" sz="2000" dirty="0"/>
              <a:t>- Links)</a:t>
            </a:r>
          </a:p>
          <a:p>
            <a:r>
              <a:rPr lang="en-IN" sz="2000" smtClean="0"/>
              <a:t>COD4 </a:t>
            </a:r>
            <a:r>
              <a:rPr lang="en-IN" sz="2000" dirty="0"/>
              <a:t>( Communication Outage </a:t>
            </a:r>
            <a:r>
              <a:rPr lang="en-IN" sz="2000" dirty="0" smtClean="0"/>
              <a:t>Rolling 12 Months Deviation </a:t>
            </a:r>
            <a:r>
              <a:rPr lang="en-IN" sz="2000" dirty="0"/>
              <a:t>Equipment's</a:t>
            </a:r>
            <a:r>
              <a:rPr lang="en-IN" sz="2000" dirty="0" smtClean="0"/>
              <a:t>)</a:t>
            </a:r>
          </a:p>
          <a:p>
            <a:pPr marL="114300" indent="0">
              <a:buNone/>
            </a:pPr>
            <a:r>
              <a:rPr lang="en-IN" sz="1200" dirty="0" smtClean="0"/>
              <a:t>All Reports can be downloaded in Excel Format</a:t>
            </a:r>
            <a:endParaRPr lang="en-IN" sz="12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9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2800" dirty="0" smtClean="0"/>
              <a:t>Deviation Rules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r>
              <a:rPr lang="en-IN" sz="2000" dirty="0" smtClean="0"/>
              <a:t>If Rolling 12 Months Outage Time &gt; 48hrs</a:t>
            </a:r>
          </a:p>
          <a:p>
            <a:r>
              <a:rPr lang="en-IN" sz="2000" dirty="0" smtClean="0"/>
              <a:t>Outage Started earlier than Approved Start Date</a:t>
            </a:r>
          </a:p>
          <a:p>
            <a:r>
              <a:rPr lang="en-IN" sz="2000" dirty="0" smtClean="0"/>
              <a:t>Outage Ended after the Approved End Date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4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191824" cy="1082700"/>
          </a:xfrm>
        </p:spPr>
        <p:txBody>
          <a:bodyPr/>
          <a:lstStyle/>
          <a:p>
            <a:r>
              <a:rPr lang="en-IN" sz="2400" dirty="0" smtClean="0"/>
              <a:t>Addition of New Links and Equipment's to Database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425388"/>
            <a:ext cx="8191825" cy="3249362"/>
          </a:xfrm>
        </p:spPr>
        <p:txBody>
          <a:bodyPr/>
          <a:lstStyle/>
          <a:p>
            <a:endParaRPr lang="en-IN" sz="2000" dirty="0" smtClean="0"/>
          </a:p>
          <a:p>
            <a:endParaRPr lang="en-IN" sz="2000" dirty="0"/>
          </a:p>
          <a:p>
            <a:r>
              <a:rPr lang="en-IN" sz="2000" dirty="0" smtClean="0"/>
              <a:t>User can request to add New links and equipment's through Portal.</a:t>
            </a:r>
          </a:p>
          <a:p>
            <a:r>
              <a:rPr lang="en-IN" sz="2000" dirty="0" smtClean="0"/>
              <a:t>SRLDC or SRPC can verify and approve the addition of Elements.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1034" name="Picture 10" descr="https://encrypted-tbn0.gstatic.com/images?q=tbn:ANd9GcR8ZizFsNlqeqqLLTOo6X7gQNtAPvrcPM1HcA&amp;usqp=C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16" y="1210033"/>
            <a:ext cx="2151133" cy="99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1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3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060" name="Google Shape;2060;p34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2061" name="Google Shape;2061;p3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3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3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3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3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3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3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18" name="Google Shape;2118;p3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2119" name="Google Shape;2119;p3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2120" name="Google Shape;2120;p3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1" name="Google Shape;2121;p3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2" name="Google Shape;2122;p3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23" name="Google Shape;2123;p3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2124" name="Google Shape;2124;p3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5" name="Google Shape;2125;p3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26" name="Google Shape;2126;p3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7" name="Google Shape;2127;p3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8" name="Google Shape;2128;p3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9" name="Google Shape;2129;p3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0" name="Google Shape;2130;p3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1" name="Google Shape;2131;p3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2" name="Google Shape;2132;p3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3" name="Google Shape;2133;p3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4" name="Google Shape;2134;p3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5" name="Google Shape;2135;p3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6" name="Google Shape;2136;p3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7" name="Google Shape;2137;p3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0" name="Google Shape;2140;p3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1" name="Google Shape;2141;p3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2" name="Google Shape;2142;p3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3" name="Google Shape;2143;p3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3" name="Google Shape;2153;p3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4" name="Google Shape;2154;p3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5" name="Google Shape;2155;p3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6" name="Google Shape;2156;p3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7" name="Google Shape;2157;p3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8" name="Google Shape;2158;p3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9" name="Google Shape;2159;p3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0" name="Google Shape;2160;p3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1" name="Google Shape;2161;p3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2" name="Google Shape;2162;p3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3" name="Google Shape;2163;p3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4" name="Google Shape;2164;p3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5" name="Google Shape;2165;p3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6" name="Google Shape;2166;p3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7" name="Google Shape;2167;p3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8" name="Google Shape;2168;p3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9" name="Google Shape;2169;p3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0" name="Google Shape;2170;p3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3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2" name="Google Shape;2172;p3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3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3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5" name="Google Shape;2175;p3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6" name="Google Shape;2176;p3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3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3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3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0" name="Google Shape;2180;p3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1" name="Google Shape;2181;p3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2" name="Google Shape;2182;p3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3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4" name="Google Shape;2184;p3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5" name="Google Shape;2185;p3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6" name="Google Shape;2186;p3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7" name="Google Shape;2187;p3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8" name="Google Shape;2188;p3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9" name="Google Shape;2189;p3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90" name="Google Shape;2190;p3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2191" name="Google Shape;2191;p3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2192" name="Google Shape;2192;p3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3" name="Google Shape;2193;p3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4" name="Google Shape;2194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5" name="Google Shape;2195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6" name="Google Shape;2196;p3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97" name="Google Shape;2197;p3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8" name="Google Shape;2198;p3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9" name="Google Shape;2199;p3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00" name="Google Shape;2200;p3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3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3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3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3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3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6" name="Google Shape;2206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2207" name="Google Shape;2207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Any </a:t>
            </a:r>
            <a:r>
              <a:rPr lang="en" sz="3600" b="1" dirty="0" smtClean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questions?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000" dirty="0" smtClean="0"/>
              <a:t>You </a:t>
            </a:r>
            <a:r>
              <a:rPr lang="en-IN" sz="1000" dirty="0"/>
              <a:t>can find me at: </a:t>
            </a:r>
            <a:r>
              <a:rPr lang="en-IN" sz="1000" dirty="0" smtClean="0"/>
              <a:t>mdileepkumar@posoco.in</a:t>
            </a:r>
            <a:r>
              <a:rPr lang="en-IN" sz="3600" dirty="0"/>
              <a:t/>
            </a:r>
            <a:br>
              <a:rPr lang="en-IN" sz="3600" dirty="0"/>
            </a:br>
            <a:endParaRPr lang="en-IN" sz="36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IN" sz="3600" b="1" dirty="0" smtClean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984" y="198971"/>
            <a:ext cx="981151" cy="1082200"/>
          </a:xfrm>
          <a:prstGeom prst="rect">
            <a:avLst/>
          </a:prstGeom>
        </p:spPr>
      </p:pic>
      <p:pic>
        <p:nvPicPr>
          <p:cNvPr id="152" name="Picture 1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97195"/>
            <a:ext cx="431135" cy="4755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415</Words>
  <Application>Microsoft Office PowerPoint</Application>
  <PresentationFormat>On-screen Show (16:9)</PresentationFormat>
  <Paragraphs>52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Raleway SemiBold</vt:lpstr>
      <vt:lpstr>Barlow</vt:lpstr>
      <vt:lpstr>Arial</vt:lpstr>
      <vt:lpstr>Barlow Light</vt:lpstr>
      <vt:lpstr>Gaoler template</vt:lpstr>
      <vt:lpstr>PowerPoint Presentation</vt:lpstr>
      <vt:lpstr>Roles</vt:lpstr>
      <vt:lpstr>Flow of Website (Planned)</vt:lpstr>
      <vt:lpstr>Flow of Website cont.…(Planned)</vt:lpstr>
      <vt:lpstr>Flow of Website cont.…(Emergency &amp; Forced)</vt:lpstr>
      <vt:lpstr>Outage Entry</vt:lpstr>
      <vt:lpstr>Reports</vt:lpstr>
      <vt:lpstr>Deviation Rules</vt:lpstr>
      <vt:lpstr>Addition of New Links and Equipment's to Database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 kumar M</dc:creator>
  <cp:lastModifiedBy>Windows User</cp:lastModifiedBy>
  <cp:revision>90</cp:revision>
  <dcterms:modified xsi:type="dcterms:W3CDTF">2021-08-16T05:24:23Z</dcterms:modified>
</cp:coreProperties>
</file>